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74" r:id="rId4"/>
    <p:sldId id="276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7" r:id="rId19"/>
    <p:sldId id="272" r:id="rId20"/>
    <p:sldId id="275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C3C9-30AA-D7F0-DE58-310B8055B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FE158-15B2-154F-6676-3D6C81266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373A8-45CE-8D6E-41F7-6317FB5D8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C7F-9A3A-4436-B6A9-D8F6E8056BF5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23D53-5FD0-5841-C139-6B445036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EA927-05F6-BC1B-D443-3967D817F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0CA2-B617-4597-99A0-078115AA2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9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36B6E-E84B-2AA3-FF11-E032B933E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4792B-DEBE-22A0-BF84-AE241771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AEBD5-A12B-E26A-C62D-3D089EEF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C7F-9A3A-4436-B6A9-D8F6E8056BF5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59FB7-2CC9-5125-A4A7-232A350FE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DDD57-95BF-C146-D1B5-597DF1A1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0CA2-B617-4597-99A0-078115AA2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47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6F1B-866F-CF2B-78CE-FF9B08377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3C961-7780-3868-9595-A8E443BA4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DD09F-6B77-B18C-4838-F71FE21C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C7F-9A3A-4436-B6A9-D8F6E8056BF5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A828D-6969-6093-6231-B7981CC96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0422D-3164-CEE5-2073-63720BE3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0CA2-B617-4597-99A0-078115AA2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26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CB97F-3C15-EDD7-7428-8E21D046A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B310B-9A62-9EFF-C2C7-B81662A53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BF042-9099-A754-5DB3-3894E89A6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2A2AC-C737-430A-8D17-B98450465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C7F-9A3A-4436-B6A9-D8F6E8056BF5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102E7-2600-D734-EE83-0102821CD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A99DD-40F9-AF5F-F454-1EF2CB839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0CA2-B617-4597-99A0-078115AA2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466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EFC5-C60C-EC2F-3A8E-CEB5C9FB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B590D-AE56-FADB-68FE-586965B3D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3B60D-1DA9-B3D1-DF83-26B69089A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85BE0-207D-B204-0D84-EE1A01C79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B34D9-B6A6-9B33-80E0-CA8D552738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F9B15-51ED-99A4-E8CB-61503371E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C7F-9A3A-4436-B6A9-D8F6E8056BF5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F8D43-2DD6-2C86-6CE8-8AA6DA5CF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74F440-0D1C-6F1C-0DDF-63BE585B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0CA2-B617-4597-99A0-078115AA2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442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32B9-2629-9BDA-8D23-4EB6787C2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F6D674-706D-B75E-BC30-FEDA58FC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C7F-9A3A-4436-B6A9-D8F6E8056BF5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0C70A-50AB-BBF3-D9F8-095615FCF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C71B0-EEF1-83C1-BD1A-A8F253EF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0CA2-B617-4597-99A0-078115AA2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605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1B2C69-1634-BA5A-6572-59C300536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C7F-9A3A-4436-B6A9-D8F6E8056BF5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FC1959-2EC4-02FA-2829-481642F8E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4D2F0-B618-BE16-47F9-07AD22BF9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0CA2-B617-4597-99A0-078115AA2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539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A67C-F595-0A5E-ADAE-9562B81D4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74BA0-5682-716A-573D-A96981DEE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35879-757C-D0DD-CB70-8CF10A263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CCD42-41D6-B7FC-5BE9-C3CA9B719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C7F-9A3A-4436-B6A9-D8F6E8056BF5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F9F38-9BAD-CC3E-9956-24D51523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6443F-7ECE-3047-0192-ADE4CC274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0CA2-B617-4597-99A0-078115AA2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21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D1A0B-BB67-9B6E-5943-AD209157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A247BA-21AD-A095-BDC7-B07E97AE9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941E-1CE0-41F9-C35D-F8CD38CED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410F2-A3F0-6948-1E1D-73710CA29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C7F-9A3A-4436-B6A9-D8F6E8056BF5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0C3B-B6E6-6B90-3A24-BF5DDA9DF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AD4F7-5107-F868-75C5-7FB0A1DF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0CA2-B617-4597-99A0-078115AA2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20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B883B-D80F-ABB4-02BF-89FD488A1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A85AD-6DCA-76EA-0CE5-896CBF73F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6ADB-8830-E1C5-6992-441698C2E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C7F-9A3A-4436-B6A9-D8F6E8056BF5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3E0C6-4C87-52F7-2004-E2C33C7A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0B2A1-4723-0685-0FFB-67D808623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0CA2-B617-4597-99A0-078115AA2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44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A5397-CFC3-6A26-494A-DCD6A5D60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51C48-6545-4CB2-DBC3-22FB949B1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D3CB7-2D50-0703-9A16-1AEE5A70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C7F-9A3A-4436-B6A9-D8F6E8056BF5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FB301-1C98-1B85-3325-FDBCC7DD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205A1-7D49-C9B2-C440-17E990AF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0CA2-B617-4597-99A0-078115AA2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35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8E2597-5EC5-5DBE-4637-EAD26A48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ADFF4-8D6F-538A-D623-AE3E41B45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37E30-5887-B05B-9741-BB2E46B39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8FC7F-9A3A-4436-B6A9-D8F6E8056BF5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8DAD9-7EF2-1C88-433A-8C9CB6ED1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1810-08AA-DD93-FC19-6053D5E9A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F0CA2-B617-4597-99A0-078115AA2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39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https://static.vecteezy.com/system/resources/previews/011/430/978/non_2x/sales-pitch-data-visualization-element-marketing-chart-research-data-business-statistics-financial-report-company-performance-analysis-concept-flat-modern-illustration-vecto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2158"/>
            <a:ext cx="5432495" cy="362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949333" y="3103629"/>
            <a:ext cx="4491486" cy="676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/>
              <a:t>AMAZON FRESH ANALYSIS</a:t>
            </a:r>
            <a:endParaRPr lang="en-IN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949333" y="4555756"/>
            <a:ext cx="24995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PRESENTED BY </a:t>
            </a:r>
          </a:p>
          <a:p>
            <a:endParaRPr lang="en-GB" sz="2000" b="1" dirty="0"/>
          </a:p>
          <a:p>
            <a:r>
              <a:rPr lang="en-GB" sz="2000" b="1" dirty="0"/>
              <a:t>SATHYANARRAYANAN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04843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45B1DE0-F4C3-F66E-6B76-BF033D3DB450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758390" y="1711692"/>
            <a:ext cx="10663990" cy="115850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800" b="0" i="0" u="none" strike="noStrike" baseline="0" dirty="0">
                <a:latin typeface="Arial" panose="020B0604020202020204" pitchFamily="34" charset="0"/>
              </a:rPr>
              <a:t>To design a relational database for Amazon Fresh that organizes this data efficiently, allows for meaningful analysis, and supports critical business decisions 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C8CC6C5-504F-45B2-FB37-5E495431432B}"/>
              </a:ext>
            </a:extLst>
          </p:cNvPr>
          <p:cNvSpPr txBox="1">
            <a:spLocks/>
          </p:cNvSpPr>
          <p:nvPr/>
        </p:nvSpPr>
        <p:spPr>
          <a:xfrm>
            <a:off x="769620" y="2770204"/>
            <a:ext cx="8731219" cy="370304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Arial" panose="020B0604020202020204" pitchFamily="34" charset="0"/>
              </a:rPr>
              <a:t>Key Deliverables: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</a:rPr>
              <a:t>Customer Insights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</a:rPr>
              <a:t>Product Management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</a:rPr>
              <a:t>Supplier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</a:rPr>
              <a:t>Revenue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</a:rPr>
              <a:t>Customer Satisfaction   </a:t>
            </a:r>
          </a:p>
        </p:txBody>
      </p:sp>
      <p:pic>
        <p:nvPicPr>
          <p:cNvPr id="2050" name="Picture 2" descr="Sales Performance Stock Illustrations – 17,240 Sales Performance Stock  Illustrations, Vectors &amp; Clipart - Dreamstim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897" y="3564155"/>
            <a:ext cx="2427170" cy="242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28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832EE-96E2-C92B-1052-955F6359B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642A24-2BEB-045B-0C48-84D0F0501D7D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DCB36-0A4E-AEE9-A550-D14D702C2BCF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BC7BCC-C4AF-6E11-7264-DB4B22D74AFA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SQL IMPLEMENTATION SUMMARY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5EC573-9012-A62A-6A84-67CCF2004F9F}"/>
              </a:ext>
            </a:extLst>
          </p:cNvPr>
          <p:cNvSpPr txBox="1">
            <a:spLocks/>
          </p:cNvSpPr>
          <p:nvPr/>
        </p:nvSpPr>
        <p:spPr>
          <a:xfrm>
            <a:off x="758390" y="1360449"/>
            <a:ext cx="10663990" cy="532483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Data Loading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All datasets (Customers, Products, Orders, etc.) were imported directly from Excel files provided in the project repository.</a:t>
            </a:r>
          </a:p>
          <a:p>
            <a:pPr>
              <a:lnSpc>
                <a:spcPct val="10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SQL Syntax Usage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SQL commands and syntax were used throughout each analysis slide.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Queries cover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DDL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DML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JOINS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AGGREGATIONS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SUBQUERIES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Key SQL Concepts Applied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DDL: Table creation with constraints (e.g., CHECK, DEFAULT, PRIMARY KEY).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DML: INSERT, UPDATE, and DELETE used during sample operations.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JOINS: Used to link tables like Orders,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Order_Details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and Customers.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Subqueries: Applied for tasks like identifying top revenue products and inactive customers.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248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B3D8B-D491-6D9E-86D4-AF9317D5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08DF7E-CAEA-1C94-2089-72505EFEE6F7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853F7F-F6C9-B02A-E8CA-82D4981B9DA9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1552C2-D9C3-FC67-0118-6F1FC7C79F3A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SQL IMPLEMENTATION SUMMARY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9A8E3B-433D-B5B1-BF02-9C226ED3844A}"/>
              </a:ext>
            </a:extLst>
          </p:cNvPr>
          <p:cNvSpPr txBox="1">
            <a:spLocks/>
          </p:cNvSpPr>
          <p:nvPr/>
        </p:nvSpPr>
        <p:spPr>
          <a:xfrm>
            <a:off x="758390" y="1360449"/>
            <a:ext cx="10663990" cy="49065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Key SQL Concepts Applied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Aggregations: For revenue totals, product rankings, and customer spending.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Constraints: Applied NOT NULL, CHECK, DEFAULT, and UNIQUE constraints as per requirements.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Primary &amp; Foreign Keys:</a:t>
            </a:r>
          </a:p>
          <a:p>
            <a:pPr marL="78867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i="0" dirty="0">
                <a:latin typeface="Arial" panose="020B0604020202020204" pitchFamily="34" charset="0"/>
                <a:cs typeface="Arial" panose="020B0604020202020204" pitchFamily="34" charset="0"/>
              </a:rPr>
              <a:t>Defined PRIMARY KEY for identity columns like </a:t>
            </a:r>
            <a:r>
              <a:rPr lang="en-GB" sz="1800" i="0" dirty="0" err="1">
                <a:latin typeface="Arial" panose="020B0604020202020204" pitchFamily="34" charset="0"/>
                <a:cs typeface="Arial" panose="020B0604020202020204" pitchFamily="34" charset="0"/>
              </a:rPr>
              <a:t>CustomerID</a:t>
            </a:r>
            <a:r>
              <a:rPr lang="en-GB" sz="1800" i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800" i="0" dirty="0" err="1">
                <a:latin typeface="Arial" panose="020B0604020202020204" pitchFamily="34" charset="0"/>
                <a:cs typeface="Arial" panose="020B0604020202020204" pitchFamily="34" charset="0"/>
              </a:rPr>
              <a:t>ProductID</a:t>
            </a:r>
            <a:r>
              <a:rPr lang="en-GB" sz="1800" i="0" dirty="0">
                <a:latin typeface="Arial" panose="020B0604020202020204" pitchFamily="34" charset="0"/>
                <a:cs typeface="Arial" panose="020B0604020202020204" pitchFamily="34" charset="0"/>
              </a:rPr>
              <a:t>, etc.</a:t>
            </a:r>
          </a:p>
          <a:p>
            <a:pPr marL="78867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i="0" dirty="0">
                <a:latin typeface="Arial" panose="020B0604020202020204" pitchFamily="34" charset="0"/>
                <a:cs typeface="Arial" panose="020B0604020202020204" pitchFamily="34" charset="0"/>
              </a:rPr>
              <a:t>Established FOREIGN KEY relationships to maintain data integrity (e.g., </a:t>
            </a:r>
            <a:r>
              <a:rPr lang="en-GB" sz="1800" i="0" dirty="0" err="1">
                <a:latin typeface="Arial" panose="020B0604020202020204" pitchFamily="34" charset="0"/>
                <a:cs typeface="Arial" panose="020B0604020202020204" pitchFamily="34" charset="0"/>
              </a:rPr>
              <a:t>Orders.CustomerID</a:t>
            </a:r>
            <a:r>
              <a:rPr lang="en-GB" sz="1800" i="0" dirty="0">
                <a:latin typeface="Arial" panose="020B0604020202020204" pitchFamily="34" charset="0"/>
                <a:cs typeface="Arial" panose="020B0604020202020204" pitchFamily="34" charset="0"/>
              </a:rPr>
              <a:t> references </a:t>
            </a:r>
            <a:r>
              <a:rPr lang="en-GB" sz="1800" i="0" dirty="0" err="1">
                <a:latin typeface="Arial" panose="020B0604020202020204" pitchFamily="34" charset="0"/>
                <a:cs typeface="Arial" panose="020B0604020202020204" pitchFamily="34" charset="0"/>
              </a:rPr>
              <a:t>Customers.CustomerID</a:t>
            </a:r>
            <a:r>
              <a:rPr lang="en-GB" sz="1800" i="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18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23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A9461-5059-4835-A2B2-51026808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99A52E-33A6-93D0-7003-6E4B5A65F3F6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6DA75-7897-D015-4492-0BDD28D0D538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73771D-14AB-2A46-BFC3-0C78E24D05D1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ER DIAGRAM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BFB794-726E-EE06-FF32-36E1D98D3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1353588"/>
            <a:ext cx="7690245" cy="481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56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B26DE-64D9-65D3-245D-4001794E7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D1C434-098C-1C5F-E29D-1FD8A32B8CA0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C5F8E-4048-9821-D3A1-95CFFB9CA4AB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90E1E5C-DEE5-9FEE-A121-B1DB31D253EF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CUSTOMER INSIGHT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A0233E-CEA1-1FA4-79B4-31E11311D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196" y="2120093"/>
            <a:ext cx="9195273" cy="417216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CEB3757-3496-38CD-E504-F02C39BF6717}"/>
              </a:ext>
            </a:extLst>
          </p:cNvPr>
          <p:cNvSpPr txBox="1">
            <a:spLocks/>
          </p:cNvSpPr>
          <p:nvPr/>
        </p:nvSpPr>
        <p:spPr>
          <a:xfrm>
            <a:off x="769620" y="1058516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TOP SPENDING CUSTOMER</a:t>
            </a:r>
          </a:p>
        </p:txBody>
      </p:sp>
    </p:spTree>
    <p:extLst>
      <p:ext uri="{BB962C8B-B14F-4D97-AF65-F5344CB8AC3E}">
        <p14:creationId xmlns:p14="http://schemas.microsoft.com/office/powerpoint/2010/main" val="3020139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65A85-2603-C90A-AB12-2EA2AD623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15086D-918D-03E5-017A-0DA55E7EF7D8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D84BE-9BDA-0F84-194A-594F685D2D80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CC674-47AB-0FAE-FE4F-000F0631F93A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CUSTOMER INSIGHT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D8673C-66C5-40E1-E584-691BCA651B87}"/>
              </a:ext>
            </a:extLst>
          </p:cNvPr>
          <p:cNvSpPr txBox="1">
            <a:spLocks/>
          </p:cNvSpPr>
          <p:nvPr/>
        </p:nvSpPr>
        <p:spPr>
          <a:xfrm>
            <a:off x="769620" y="1058516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PRIME MEMBERS BY CITY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B63293-D9CA-E1A2-E984-2443A6CA2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1" y="2709564"/>
            <a:ext cx="7827970" cy="356364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BEB501F-EDE5-44D3-BA3E-C7D9E12F32E2}"/>
              </a:ext>
            </a:extLst>
          </p:cNvPr>
          <p:cNvSpPr txBox="1">
            <a:spLocks/>
          </p:cNvSpPr>
          <p:nvPr/>
        </p:nvSpPr>
        <p:spPr>
          <a:xfrm>
            <a:off x="769620" y="1598831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Out of the total cities, we have two Prime member each from 17 cities, and 471 cities have only one Prime member each.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014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FE80F-D252-4C48-4FB2-CB15C8F4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C77268-8FAB-41A9-A3EB-6851AA6BCE25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871474-104F-054C-D33A-F0CCB3505398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3705509-B427-8B17-C3A0-84C2449145AC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CUSTOMER INSIGHT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AE1E2F-1777-B90C-7F32-B8D87DD87D87}"/>
              </a:ext>
            </a:extLst>
          </p:cNvPr>
          <p:cNvSpPr txBox="1">
            <a:spLocks/>
          </p:cNvSpPr>
          <p:nvPr/>
        </p:nvSpPr>
        <p:spPr>
          <a:xfrm>
            <a:off x="769620" y="1058516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CUSTOMER WHO HAVEN’T PLACED ANY ORDER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AEC440-8D44-B020-EDDE-D2AE039B7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2338851"/>
            <a:ext cx="8786975" cy="393753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85970E2-C86F-27E7-7FAD-B0A195598A2A}"/>
              </a:ext>
            </a:extLst>
          </p:cNvPr>
          <p:cNvSpPr txBox="1">
            <a:spLocks/>
          </p:cNvSpPr>
          <p:nvPr/>
        </p:nvSpPr>
        <p:spPr>
          <a:xfrm>
            <a:off x="769620" y="1598831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/>
            <a:r>
              <a:rPr lang="en-GB" sz="100" dirty="0">
                <a:latin typeface="Arial" panose="020B0604020202020204" pitchFamily="34" charset="0"/>
                <a:cs typeface="Arial" panose="020B0604020202020204" pitchFamily="34" charset="0"/>
              </a:rPr>
              <a:t>Out of the total cities, we have one Prime member each from 17 cities, and 471 cities have only one Prime member each.</a:t>
            </a:r>
            <a:endParaRPr lang="en-US" sz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59EF6EB-3E71-F999-0977-5F170A2C4A08}"/>
              </a:ext>
            </a:extLst>
          </p:cNvPr>
          <p:cNvSpPr txBox="1">
            <a:spLocks/>
          </p:cNvSpPr>
          <p:nvPr/>
        </p:nvSpPr>
        <p:spPr>
          <a:xfrm>
            <a:off x="769620" y="1399139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We can see that there are a total of 11 members who didn’t place any orders.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975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83666-A09D-EA51-2A28-A195D50B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750B07-6C20-613D-04DD-914097AF11AB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FD72E-7DEB-74DE-B555-1E280E3E8BB5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3AB1A5A-6C5F-D56E-3DF1-9769147CA1A7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PRODUCT ANALYSIS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46F6216-8811-6E3E-0389-399AA0F5C717}"/>
              </a:ext>
            </a:extLst>
          </p:cNvPr>
          <p:cNvSpPr txBox="1">
            <a:spLocks/>
          </p:cNvSpPr>
          <p:nvPr/>
        </p:nvSpPr>
        <p:spPr>
          <a:xfrm>
            <a:off x="769620" y="1058516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TOP 3 CATEGORY BY SALES REVENUE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6976FE-477B-94FD-FD6A-6904D9C4E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2048543"/>
            <a:ext cx="9220674" cy="412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10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AE2AF-91D7-E3B7-0485-71D50C9C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22041D-A47F-B0F6-AFBD-9BBE95E87612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A9C1E-87DA-7327-F1BB-A5BB95CC7A65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1CD476-AC55-1941-57B7-1A08F1AF9410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PRODUCT ANALYSIS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9995B7-8A4E-0790-FC47-97B47C108FEC}"/>
              </a:ext>
            </a:extLst>
          </p:cNvPr>
          <p:cNvSpPr txBox="1">
            <a:spLocks/>
          </p:cNvSpPr>
          <p:nvPr/>
        </p:nvSpPr>
        <p:spPr>
          <a:xfrm>
            <a:off x="769620" y="1058516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PRODUCT WITH AVERAGE RATING &gt; 4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0D0118-5137-A3E4-3F5F-66BEA8BFA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46" y="2125116"/>
            <a:ext cx="9233375" cy="38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04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CE5EA-B6AE-9ACC-772A-518A4444E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468BF3-45E8-D616-3701-1D5B68BF5720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0A81C5-37EA-0289-6BFC-1B4F0E3D614B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962BE8-4BF8-68C8-3AEF-8F45BB392C31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PRODUCT ANALYSIS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354FDFA-E3F8-CA6A-E7E6-60948A89BB25}"/>
              </a:ext>
            </a:extLst>
          </p:cNvPr>
          <p:cNvSpPr txBox="1">
            <a:spLocks/>
          </p:cNvSpPr>
          <p:nvPr/>
        </p:nvSpPr>
        <p:spPr>
          <a:xfrm>
            <a:off x="769620" y="1058516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LOW STOCK PRODUCTS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ABCE8B-E939-7AA9-4555-20977C0F3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2005640"/>
            <a:ext cx="9271476" cy="418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91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CEC68-8357-1E6E-5EE2-2DB52BD7C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1818DB-B416-E873-1B2B-200AB5D05819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1E64CC-5F93-D7CB-9E71-43A1CDF65381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3FBA68-A78B-1250-6EDC-E7FCFEF08C37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SUPPLIER ANALYSIS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6E23FD-D3D6-0D04-0824-9D804C044E1E}"/>
              </a:ext>
            </a:extLst>
          </p:cNvPr>
          <p:cNvSpPr txBox="1">
            <a:spLocks/>
          </p:cNvSpPr>
          <p:nvPr/>
        </p:nvSpPr>
        <p:spPr>
          <a:xfrm>
            <a:off x="769620" y="1058516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SUPPLIER WITH MOST PRODUCTS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B1FAD4-F709-9084-49DF-D47020852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2129547"/>
            <a:ext cx="9239725" cy="398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211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F2DB1-3FD3-490F-AFF5-5D7C5297E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70D2A4-4AE9-2442-EEFE-20627EC1A15A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7EF873-6BE4-6580-0E7C-BD58706D03D9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E29BB90-963D-FDEF-B579-0391EB03540A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SUPPLIER ANALYSIS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4D519FF-86FB-AE59-DCE5-27D7621AF337}"/>
              </a:ext>
            </a:extLst>
          </p:cNvPr>
          <p:cNvSpPr txBox="1">
            <a:spLocks/>
          </p:cNvSpPr>
          <p:nvPr/>
        </p:nvSpPr>
        <p:spPr>
          <a:xfrm>
            <a:off x="769620" y="1058516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LOW STOCK PRODUCT AND THEIR SUPPLIERS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CBB5F6-F80B-B206-AD5D-C2E12D393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2155020"/>
            <a:ext cx="9239725" cy="410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51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A8265-9678-B5D0-169F-0C7F2C799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5C931D-ECF7-5F06-E85B-77BC56431335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C8E24E-0BCE-847B-B6E9-867B5A5670BB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8001FB-E7BC-2C3D-B686-7A00C1E71F2D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REVENUE ANALYSIS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B57086-7EF2-3A5C-999F-9C7520E562DF}"/>
              </a:ext>
            </a:extLst>
          </p:cNvPr>
          <p:cNvSpPr txBox="1">
            <a:spLocks/>
          </p:cNvSpPr>
          <p:nvPr/>
        </p:nvSpPr>
        <p:spPr>
          <a:xfrm>
            <a:off x="769620" y="1058516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REVENUE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EC5FCE-2A0C-3CD9-258A-774F438C8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2113743"/>
            <a:ext cx="9265126" cy="418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39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9CAC6-34AA-C2EB-5595-2F83B808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C1FEFB-8DEA-AC5D-3A7B-21784B734008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07BA3C-5464-A8A0-2A8F-3884708B9968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56BFFD8-C6CF-71A9-9964-8708BC8D0694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REVENUE ANALYSIS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D609C6-BE29-65B2-2F44-E87EB9D744DD}"/>
              </a:ext>
            </a:extLst>
          </p:cNvPr>
          <p:cNvSpPr txBox="1">
            <a:spLocks/>
          </p:cNvSpPr>
          <p:nvPr/>
        </p:nvSpPr>
        <p:spPr>
          <a:xfrm>
            <a:off x="769620" y="1058516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REVENUE BY REGION (CITY)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001127-C8FB-9978-6E04-D7B2BA10C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2158195"/>
            <a:ext cx="9176222" cy="409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54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9BDC-5B40-E993-36DE-5CF8C3663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743DE5-22C3-EAD6-16EC-9BF1732EB182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6839EB-C03E-63D0-C0AE-846D5AEDE5D9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2F162A3-698D-24B9-8750-6853184FAF98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REVENUE ANALYSIS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A41D94-2A7D-FF9D-C4C4-AD7214FD950C}"/>
              </a:ext>
            </a:extLst>
          </p:cNvPr>
          <p:cNvSpPr txBox="1">
            <a:spLocks/>
          </p:cNvSpPr>
          <p:nvPr/>
        </p:nvSpPr>
        <p:spPr>
          <a:xfrm>
            <a:off x="769620" y="1058516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TOP PRODUCT CATEGORY BY REVENUE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43300F-4A24-48DE-50A6-549E09CD2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1945136"/>
            <a:ext cx="9220674" cy="412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89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D7E4F-1FEE-BDA5-BD96-9A6C80E98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B2EDC0-E4D4-A1B4-E758-71555E5448FA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5EA0BD-B544-937D-B648-E6047CDF5EEC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11468A-DE80-8F3B-B131-F6D5A5346F24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CUSTOMER SATISFACTION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E0D62C3-B84F-F9D1-9AC9-67294E4DD983}"/>
              </a:ext>
            </a:extLst>
          </p:cNvPr>
          <p:cNvSpPr txBox="1">
            <a:spLocks/>
          </p:cNvSpPr>
          <p:nvPr/>
        </p:nvSpPr>
        <p:spPr>
          <a:xfrm>
            <a:off x="769620" y="1058516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TOP 10 PRODUCTS WITH HIGHEST AVERAGE RATINGS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024026-F52C-9DA3-F4E3-FF62AB93F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1983688"/>
            <a:ext cx="7922112" cy="448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923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8B9D7-146A-9A87-DC6E-69C469F6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1B1C2C-9F24-A6E3-5A5A-00E4EAC4D0EE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AC034-6E2B-7B63-0A39-C806680C72DE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4F47C4-5899-08EE-EF77-95FCACA33526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CUSTOMER SATISFACTION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D2431E-131B-5227-80BC-8156372C99FC}"/>
              </a:ext>
            </a:extLst>
          </p:cNvPr>
          <p:cNvSpPr txBox="1">
            <a:spLocks/>
          </p:cNvSpPr>
          <p:nvPr/>
        </p:nvSpPr>
        <p:spPr>
          <a:xfrm>
            <a:off x="769620" y="1058516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BOTTOM 10 PRODUCTS WITH LOWEST AVERAGE RATINGS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7D6372-7FBB-83C4-DB16-63B8DAE5B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1964905"/>
            <a:ext cx="7922112" cy="450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353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8AEDD-926B-98E1-D112-59338380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482E5F-5DEF-110E-0B8C-73BEA4389D77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D40D1D-A214-7F15-7EF4-9B9AD7AB193A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FBBBD81-5FA9-04D9-87F8-533B910B0060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335685-D713-5DA0-D580-FCE6D1220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1619828"/>
            <a:ext cx="8928559" cy="418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65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0DD83-4A9B-31A8-CB2C-20A1B68DA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A36941-C415-A040-152C-70A6F9D928BF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C47BED-4DFB-1281-3BD9-6D580AEA238A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63FF79-74B3-F9FC-09DF-7C25808DF4C7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192579-913F-4A4A-5B0B-F4F4569B6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1613478"/>
            <a:ext cx="8865056" cy="41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577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B49A2-D35B-DFB1-040E-8061CF1E6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B9E97F-EDBB-2E0C-59D0-A2856639CAA2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5AAC5-3FCA-0D95-EBE0-09DF40E14E6A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81C3A31-8B48-6E45-67F9-BA8348F7C9E9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BUSINESS RECOMMENDATIONS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DF957D5-1495-B983-938C-30126B5DB129}"/>
              </a:ext>
            </a:extLst>
          </p:cNvPr>
          <p:cNvSpPr txBox="1">
            <a:spLocks/>
          </p:cNvSpPr>
          <p:nvPr/>
        </p:nvSpPr>
        <p:spPr>
          <a:xfrm>
            <a:off x="758390" y="1360449"/>
            <a:ext cx="10663990" cy="511279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spcBef>
                <a:spcPts val="1372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Restock Top-Revenue Products Immediately</a:t>
            </a:r>
            <a:r>
              <a:rPr lang="en-GB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GB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Prioritize inventory replenishment for these high-performing products to prevent stockouts and revenue loss.</a:t>
            </a:r>
          </a:p>
          <a:p>
            <a:pPr marL="342900" indent="-342900" algn="l">
              <a:lnSpc>
                <a:spcPct val="100000"/>
              </a:lnSpc>
              <a:spcBef>
                <a:spcPts val="1372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Promote High-Rated Products (&gt;4 Stars) in Marketing Campaigns - Feature these products in emails, homepage banners, and Prime deals to leverage customer trust.</a:t>
            </a:r>
          </a:p>
          <a:p>
            <a:pPr marL="342900" indent="-342900" algn="l">
              <a:lnSpc>
                <a:spcPct val="100000"/>
              </a:lnSpc>
              <a:spcBef>
                <a:spcPts val="1372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Resolve Low-Stock Issues with Priority Suppliers - Collaborate with suppliers of these products to expedite restocking or diversify sourcing.</a:t>
            </a:r>
          </a:p>
          <a:p>
            <a:pPr marL="342900" indent="-342900" algn="l">
              <a:lnSpc>
                <a:spcPct val="100000"/>
              </a:lnSpc>
              <a:spcBef>
                <a:spcPts val="1372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Target Prime Membership Drives in Cities with Low Adoption - Offer city-specific Prime trials or perks (e.g., free delivery) to convert frequent shoppers.</a:t>
            </a:r>
          </a:p>
          <a:p>
            <a:pPr marL="342900" indent="-342900" algn="l">
              <a:lnSpc>
                <a:spcPct val="100000"/>
              </a:lnSpc>
              <a:spcBef>
                <a:spcPts val="1372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Re-Engage Inactive Prime Customers - Send personalized reactivation offers (e.g., "$10 off next order").</a:t>
            </a:r>
          </a:p>
          <a:p>
            <a:pPr marL="342900" indent="-342900" algn="l">
              <a:lnSpc>
                <a:spcPct val="100000"/>
              </a:lnSpc>
              <a:spcBef>
                <a:spcPts val="1372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Optimize Assortment in Top-Revenue Cities - </a:t>
            </a:r>
            <a:r>
              <a:rPr lang="en-GB" i="0" dirty="0" err="1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GB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top cities’ buying trends and expand inventory of locally popular categories.</a:t>
            </a:r>
          </a:p>
        </p:txBody>
      </p:sp>
    </p:spTree>
    <p:extLst>
      <p:ext uri="{BB962C8B-B14F-4D97-AF65-F5344CB8AC3E}">
        <p14:creationId xmlns:p14="http://schemas.microsoft.com/office/powerpoint/2010/main" val="1063801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82096-3B1A-8734-1894-FC98E1E8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A2F794-E07C-8384-C8C9-5DD6696667EB}"/>
              </a:ext>
            </a:extLst>
          </p:cNvPr>
          <p:cNvSpPr/>
          <p:nvPr/>
        </p:nvSpPr>
        <p:spPr>
          <a:xfrm>
            <a:off x="0" y="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676005-995A-B498-A074-4C19DA0E1E0F}"/>
              </a:ext>
            </a:extLst>
          </p:cNvPr>
          <p:cNvSpPr/>
          <p:nvPr/>
        </p:nvSpPr>
        <p:spPr>
          <a:xfrm>
            <a:off x="0" y="6685280"/>
            <a:ext cx="12192000" cy="1727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368239-6952-354F-4562-E72D9C5EC2AD}"/>
              </a:ext>
            </a:extLst>
          </p:cNvPr>
          <p:cNvSpPr txBox="1">
            <a:spLocks/>
          </p:cNvSpPr>
          <p:nvPr/>
        </p:nvSpPr>
        <p:spPr>
          <a:xfrm>
            <a:off x="758390" y="1360450"/>
            <a:ext cx="10663990" cy="491768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00000"/>
              </a:lnSpc>
              <a:spcBef>
                <a:spcPts val="1372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Negotiate with High-Volume Suppliers - Bulk-discount agreements or exclusivity deals to reduce costs for high-supply products.</a:t>
            </a:r>
          </a:p>
          <a:p>
            <a:pPr marL="285750" indent="-285750" algn="l">
              <a:lnSpc>
                <a:spcPct val="100000"/>
              </a:lnSpc>
              <a:spcBef>
                <a:spcPts val="1372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Bundle Top-Rated Products with Complementary Items - Create pre-packaged bundles (e.g., pasta + sauce) to increase average order value.</a:t>
            </a:r>
          </a:p>
          <a:p>
            <a:pPr marL="285750" indent="-285750" algn="l">
              <a:lnSpc>
                <a:spcPct val="100000"/>
              </a:lnSpc>
              <a:spcBef>
                <a:spcPts val="1372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Incentivize Reviews for New Products - Offer loyalty points for reviews to gather feedback and improve SEO rankings.</a:t>
            </a:r>
          </a:p>
          <a:p>
            <a:pPr marL="285750" indent="-285750" algn="l">
              <a:lnSpc>
                <a:spcPct val="100000"/>
              </a:lnSpc>
              <a:spcBef>
                <a:spcPts val="1372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GB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Audit Underperforming Product Categories - Discontinue or discount stagnant categories to free up warehouse space.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B101BF-DBCC-03DD-44AC-64624DA61F96}"/>
              </a:ext>
            </a:extLst>
          </p:cNvPr>
          <p:cNvSpPr txBox="1">
            <a:spLocks/>
          </p:cNvSpPr>
          <p:nvPr/>
        </p:nvSpPr>
        <p:spPr>
          <a:xfrm>
            <a:off x="769620" y="384752"/>
            <a:ext cx="10652760" cy="668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964678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623</Words>
  <Application>Microsoft Office PowerPoint</Application>
  <PresentationFormat>Widescreen</PresentationFormat>
  <Paragraphs>76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25</cp:revision>
  <dcterms:created xsi:type="dcterms:W3CDTF">2025-05-07T06:56:44Z</dcterms:created>
  <dcterms:modified xsi:type="dcterms:W3CDTF">2025-05-19T08:43:51Z</dcterms:modified>
</cp:coreProperties>
</file>